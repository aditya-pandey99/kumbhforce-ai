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346704" y="685800"/>
            <a:ext cx="5486400" cy="5486400"/>
          </a:xfrm>
          <a:prstGeom prst="ellipse">
            <a:avLst/>
          </a:prstGeom>
          <a:solidFill>
            <a:srgbClr val="0C1423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06B6D4"/>
                </a:solidFill>
                <a:latin typeface="Arial"/>
              </a:defRPr>
            </a:pPr>
            <a:r>
              <a:t>KUMBHFORCE AI</a:t>
            </a:r>
          </a:p>
          <a:p>
            <a:pPr algn="ctr">
              <a:spcBef>
                <a:spcPts val="1500"/>
              </a:spcBef>
              <a:defRPr sz="2200">
                <a:solidFill>
                  <a:srgbClr val="F3F4F6"/>
                </a:solidFill>
                <a:latin typeface="Arial"/>
              </a:defRPr>
            </a:pPr>
            <a:r>
              <a:t>Autonomous Volunteer Command &amp; Spatial Intelligence</a:t>
            </a:r>
          </a:p>
          <a:p>
            <a:pPr algn="ctr">
              <a:spcBef>
                <a:spcPts val="4000"/>
              </a:spcBef>
              <a:defRPr sz="1300">
                <a:solidFill>
                  <a:srgbClr val="9CA3AF"/>
                </a:solidFill>
                <a:latin typeface="Arial"/>
              </a:defRPr>
            </a:pPr>
            <a:r>
              <a:t>Mahakumbh Staffing War Room</a:t>
            </a:r>
            <a:br/>
            <a:r>
              <a:t>Designed &amp; Built by Aditya Pandey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FLOODPLAIN CONSTRAINTS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Scale of 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011680"/>
            <a:ext cx="3200400" cy="384048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DEMOGRAPHICS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120M+ Pilgrims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Largest human gathering on Earth. Larger population footprint than most European nations transit daily.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0560" y="2011680"/>
            <a:ext cx="3200400" cy="384048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214884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TOPOGRAPHY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Dynamic Grid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Floodplain structures, pathways, and pontoon bridges change shape dynamically based on seasonal water levels.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2011680"/>
            <a:ext cx="3200400" cy="3840480"/>
          </a:xfrm>
          <a:prstGeom prst="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214884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Arial"/>
              </a:defRPr>
            </a:pPr>
            <a:r>
              <a:t>SLA BOTTLENECK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Density Crisis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Bathing gates and transit terminals exceed 4 people/sqm, triggering extreme crowd surge risks.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OPERATIONS PARADIGM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Traditional Management vs. KumbhForce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33272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3F4F6"/>
                </a:solidFill>
              </a:defRPr>
            </a:pPr>
            <a:r>
              <a:t>TRADITIONAL REACTIVE LOGISTICS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377440"/>
            <a:ext cx="3200400" cy="1463040"/>
          </a:xfrm>
          <a:prstGeom prst="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51460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Arial"/>
              </a:defRPr>
            </a:pPr>
            <a:r>
              <a:t>ROSTER BLINDNESS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Static Shifts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No tracking of fatigue, location, or active responder skill levels.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206240" y="2926080"/>
            <a:ext cx="182880" cy="365760"/>
          </a:xfrm>
          <a:prstGeom prst="rightArrow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80560" y="2377440"/>
            <a:ext cx="3200400" cy="1463040"/>
          </a:xfrm>
          <a:prstGeom prst="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51460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Arial"/>
              </a:defRPr>
            </a:pPr>
            <a:r>
              <a:t>COMMUNICATION GAP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Radio Delays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15+ minute dispatch gaps via voice calls and cascading radio trees.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772400" y="2926080"/>
            <a:ext cx="182880" cy="365760"/>
          </a:xfrm>
          <a:prstGeom prst="rightArrow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2377440"/>
            <a:ext cx="3200400" cy="1463040"/>
          </a:xfrm>
          <a:prstGeom prst="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251460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Arial"/>
              </a:defRPr>
            </a:pPr>
            <a:r>
              <a:t>CRISIS RESPONSE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Reactive Mode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Personnel deployed only after safety bottlenecks or medical emergencies materialize.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206240"/>
            <a:ext cx="103327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3F4F6"/>
                </a:solidFill>
              </a:defRPr>
            </a:pPr>
            <a:r>
              <a:t>KUMBHFORCE AI PROACTIVE INTELLIGENCE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754880"/>
            <a:ext cx="3200400" cy="146304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8920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UNIFIED HUD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Digital Twin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Live spatial visualization of 12 sectors with active telemetry.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206240" y="5303520"/>
            <a:ext cx="182880" cy="36576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4754880"/>
            <a:ext cx="3200400" cy="146304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8920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ROSTER OPTIMIZATION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Linear Program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Constraint matching solver balances proximity, skills, and fatigue.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772400" y="5303520"/>
            <a:ext cx="182880" cy="36576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4754880"/>
            <a:ext cx="3200400" cy="146304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48920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RISK MITIGATION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Predictive Prevention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Simulation sandbox tracks risk indices to deploy help before issues rise.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DATA INGESTION &amp; OPTIMIZATION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Operations System Architecture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9445752" cy="73152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3F4F6"/>
                </a:solidFill>
                <a:latin typeface="Arial"/>
              </a:defRPr>
            </a:pPr>
            <a:r>
              <a:t>1. TELEMETRY INGRESS  ·  GPS coordinates, pilgrim density sensors, and incident triggers</a:t>
            </a:r>
          </a:p>
        </p:txBody>
      </p:sp>
      <p:sp>
        <p:nvSpPr>
          <p:cNvPr id="5" name="Down Arrow 4"/>
          <p:cNvSpPr/>
          <p:nvPr/>
        </p:nvSpPr>
        <p:spPr>
          <a:xfrm>
            <a:off x="5852160" y="2560320"/>
            <a:ext cx="457200" cy="411480"/>
          </a:xfrm>
          <a:prstGeom prst="down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971800"/>
            <a:ext cx="9445752" cy="73152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3F4F6"/>
                </a:solidFill>
                <a:latin typeface="Arial"/>
              </a:defRPr>
            </a:pPr>
            <a:r>
              <a:t>2. AI DECISION LAYER  ·  Threat score calculator and sector priority ranker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5852160" y="3703320"/>
            <a:ext cx="457200" cy="411480"/>
          </a:xfrm>
          <a:prstGeom prst="down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4114800"/>
            <a:ext cx="9445752" cy="73152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3F4F6"/>
                </a:solidFill>
                <a:latin typeface="Arial"/>
              </a:defRPr>
            </a:pPr>
            <a:r>
              <a:t>3. OPTIMIZATION ENGINE  ·  Constraint matching solver mapping skills, distance, and fatigue</a:t>
            </a:r>
          </a:p>
        </p:txBody>
      </p:sp>
      <p:sp>
        <p:nvSpPr>
          <p:cNvPr id="9" name="Down Arrow 8"/>
          <p:cNvSpPr/>
          <p:nvPr/>
        </p:nvSpPr>
        <p:spPr>
          <a:xfrm>
            <a:off x="5852160" y="4846320"/>
            <a:ext cx="457200" cy="411480"/>
          </a:xfrm>
          <a:prstGeom prst="down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5257800"/>
            <a:ext cx="9445752" cy="73152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3F4F6"/>
                </a:solidFill>
                <a:latin typeface="Arial"/>
              </a:defRPr>
            </a:pPr>
            <a:r>
              <a:t>4. DIGITAL TWIN CENTER  ·  Unified HUD visualizer mapping 12-sector health matrices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LIVE SPATIAL TWIN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Digital Command Center HUD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011680"/>
            <a:ext cx="6858000" cy="3840480"/>
          </a:xfrm>
          <a:prstGeom prst="rect">
            <a:avLst/>
          </a:prstGeom>
          <a:solidFill>
            <a:srgbClr val="0C1423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[ UI SCREENSHOT: DIGITAL TWIN 12-SECTOR GRID ]</a:t>
            </a:r>
            <a:br/>
            <a:br/>
            <a:r>
              <a:t>Shows active telemetry, volunteer coverage indexes, explainability breakdowns, and category-filtered dispatcher logs.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0" y="2011680"/>
            <a:ext cx="3017520" cy="109728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2148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COMPONENT 1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Live Telemetry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Streams GPS updates &amp; density index.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3383280"/>
            <a:ext cx="3017520" cy="109728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35204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COMPONENT 2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Sector Intel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Explainable skill/fatigue matrix.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4754880"/>
            <a:ext cx="3017520" cy="109728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4892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COMPONENT 3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Incident Monitor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Triage ticketing and routing logs.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REAL-TIME CONSTRAINT DISPATCHER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Workforce Optimizer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011680"/>
            <a:ext cx="6858000" cy="3840480"/>
          </a:xfrm>
          <a:prstGeom prst="rect">
            <a:avLst/>
          </a:prstGeom>
          <a:solidFill>
            <a:srgbClr val="0C1423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[ UI SCREENSHOT: WORKFORCE OPTIMIZER ]</a:t>
            </a:r>
            <a:br/>
            <a:br/>
            <a:r>
              <a:t>Contrasts volunteer profiles, distance thresholds, and fatigue indexes. Includes single-click Auto-Resolve buttons.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0" y="2011680"/>
            <a:ext cx="3017520" cy="73152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1. SKILLS MATCH</a:t>
            </a:r>
          </a:p>
          <a:p>
            <a:pPr>
              <a:defRPr sz="1000">
                <a:solidFill>
                  <a:srgbClr val="F3F4F6"/>
                </a:solidFill>
              </a:defRPr>
            </a:pPr>
            <a:r>
              <a:t>First aid / Languages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2971800"/>
            <a:ext cx="3017520" cy="73152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2. PROXIMITY</a:t>
            </a:r>
          </a:p>
          <a:p>
            <a:pPr>
              <a:defRPr sz="1000">
                <a:solidFill>
                  <a:srgbClr val="F3F4F6"/>
                </a:solidFill>
              </a:defRPr>
            </a:pPr>
            <a:r>
              <a:t>Physical distance math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3931920"/>
            <a:ext cx="3017520" cy="73152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3. FATIGUE CAP</a:t>
            </a:r>
          </a:p>
          <a:p>
            <a:pPr>
              <a:defRPr sz="1000">
                <a:solidFill>
                  <a:srgbClr val="F3F4F6"/>
                </a:solidFill>
              </a:defRPr>
            </a:pPr>
            <a:r>
              <a:t>Duty cycle indexes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0" y="4892040"/>
            <a:ext cx="3017520" cy="73152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4. OPTIMAL MATCH</a:t>
            </a:r>
          </a:p>
          <a:p>
            <a:pPr>
              <a:defRPr sz="1000">
                <a:solidFill>
                  <a:srgbClr val="F3F4F6"/>
                </a:solidFill>
              </a:defRPr>
            </a:pPr>
            <a:r>
              <a:t>Executed dispatch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WHAT-IF FORECASTING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Scenario Stress Simulator Sandbox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011680"/>
            <a:ext cx="6858000" cy="3840480"/>
          </a:xfrm>
          <a:prstGeom prst="rect">
            <a:avLst/>
          </a:prstGeom>
          <a:solidFill>
            <a:srgbClr val="0C1423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[ UI SCREENSHOT: SCENARIO STRESS SIMULATOR ]</a:t>
            </a:r>
            <a:br/>
            <a:br/>
            <a:r>
              <a:t>Shows capacity trend curves, risk dials, preset configurations (Crowd Surge, Dehydration Wave), and slider controls.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0" y="2011680"/>
            <a:ext cx="3017520" cy="109728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2148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STEP 1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Before State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Stable volunteer metrics within normal SLA bounds.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3383280"/>
            <a:ext cx="3017520" cy="1097280"/>
          </a:xfrm>
          <a:prstGeom prst="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35204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Arial"/>
              </a:defRPr>
            </a:pPr>
            <a:r>
              <a:t>STEP 2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Surge Event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Adjust sliders to simulate crowd surges.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4754880"/>
            <a:ext cx="3017520" cy="109728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4892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STEP 3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Optimized State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System recalculates routes to restore safety.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CROWD DENSITY FORECAST 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Predictive Staffing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377440"/>
            <a:ext cx="2011680" cy="320040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  <a:latin typeface="Arial"/>
              </a:defRPr>
            </a:pPr>
            <a:r>
              <a:t>NOW</a:t>
            </a:r>
          </a:p>
          <a:p>
            <a:pPr>
              <a:spcBef>
                <a:spcPts val="15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Current grid capacity: 487 active, 4 incidents reported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697480" y="3749039"/>
            <a:ext cx="182880" cy="365760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880360" y="2377440"/>
            <a:ext cx="2011680" cy="320040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  <a:latin typeface="Arial"/>
              </a:defRPr>
            </a:pPr>
            <a:r>
              <a:t>1H FORECAST</a:t>
            </a:r>
          </a:p>
          <a:p>
            <a:pPr>
              <a:spcBef>
                <a:spcPts val="15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Sangam Ghat expected crowd +13%. Gap: -22 vols.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92040" y="3749039"/>
            <a:ext cx="182880" cy="365760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74920" y="2377440"/>
            <a:ext cx="2011680" cy="320040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  <a:latin typeface="Arial"/>
              </a:defRPr>
            </a:pPr>
            <a:r>
              <a:t>3H FORECAST</a:t>
            </a:r>
          </a:p>
          <a:p>
            <a:pPr>
              <a:spcBef>
                <a:spcPts val="15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Triveni Point reaches Critical density. Gap: -18 vols.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6600" y="3749039"/>
            <a:ext cx="182880" cy="365760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69479" y="2377440"/>
            <a:ext cx="2011680" cy="3200400"/>
          </a:xfrm>
          <a:prstGeom prst="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F4444"/>
                </a:solidFill>
                <a:latin typeface="Arial"/>
              </a:defRPr>
            </a:pPr>
            <a:r>
              <a:t>6H FORECAST</a:t>
            </a:r>
          </a:p>
          <a:p>
            <a:pPr>
              <a:spcBef>
                <a:spcPts val="15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Peak gap projected: -58 volunteers in S-01 sector.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1159" y="3749039"/>
            <a:ext cx="182880" cy="365760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64040" y="2377440"/>
            <a:ext cx="2011680" cy="320040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  <a:latin typeface="Arial"/>
              </a:defRPr>
            </a:pPr>
            <a:r>
              <a:t>12H FORECAST</a:t>
            </a:r>
          </a:p>
          <a:p>
            <a:pPr>
              <a:spcBef>
                <a:spcPts val="15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Inflow rates decline; standard monitoring resumes.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CONVERSATIONAL CLI &amp; CLICKABLE EXECUTIONS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AI Operations Copilot Interface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6858000" cy="38404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3F4F6"/>
                </a:solidFill>
                <a:latin typeface="Arial"/>
              </a:defRPr>
            </a:pPr>
            <a:r>
              <a:t>USER: "How is the crowd density at Sangam Ghat S-01, and how do we resolve the current staff gap?"</a:t>
            </a:r>
          </a:p>
          <a:p>
            <a:pPr>
              <a:spcBef>
                <a:spcPts val="2000"/>
              </a:spcBef>
              <a:defRPr sz="1300">
                <a:solidFill>
                  <a:srgbClr val="10B981"/>
                </a:solidFill>
                <a:latin typeface="Arial"/>
              </a:defRPr>
            </a:pPr>
            <a:r>
              <a:t>COPILOT: "S-01 Sangam Ghat is projected to experience a density surge of +13% in 60 minutes. Recommended action: Redeploy 12 volunteers from S-03 Ram Ghat. Confidence: 95%."</a:t>
            </a:r>
          </a:p>
          <a:p>
            <a:pPr>
              <a:spcBef>
                <a:spcPts val="3000"/>
              </a:spcBef>
              <a:defRPr sz="1100" b="1">
                <a:solidFill>
                  <a:srgbClr val="06B6D4"/>
                </a:solidFill>
                <a:latin typeface="Arial"/>
              </a:defRPr>
            </a:pPr>
            <a:r>
              <a:t>[ BUTTON: EXECUTE VOLUNTEER DISPATCH REALLOCATION ]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0" y="2011680"/>
            <a:ext cx="3017520" cy="164592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21488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CORE FEATURE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SLA Analytics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Every query returns Confidence Scores, SLA impact ratings, and data citations.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4206240"/>
            <a:ext cx="3017520" cy="164592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43434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CONTROL LOGIC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Clickable CTAs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Operations chatbot triggers dispatches, redirects pages, or runs stress simulations.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TELEMETRY TRIGGER TO RESOLUTION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Incident Response Journey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377440"/>
            <a:ext cx="2011680" cy="320040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  <a:latin typeface="Arial"/>
              </a:defRPr>
            </a:pPr>
            <a:r>
              <a:t>1. Alert</a:t>
            </a:r>
          </a:p>
          <a:p>
            <a:pPr>
              <a:spcBef>
                <a:spcPts val="15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Critical triage ticket generated at S-02.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697480" y="3749039"/>
            <a:ext cx="182880" cy="365760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880360" y="2377440"/>
            <a:ext cx="2011680" cy="320040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  <a:latin typeface="Arial"/>
              </a:defRPr>
            </a:pPr>
            <a:r>
              <a:t>2. Analysis</a:t>
            </a:r>
          </a:p>
          <a:p>
            <a:pPr>
              <a:spcBef>
                <a:spcPts val="15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Threat index assessed, SLA target: 4.5m.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92040" y="3749039"/>
            <a:ext cx="182880" cy="365760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74920" y="2377440"/>
            <a:ext cx="2011680" cy="320040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  <a:latin typeface="Arial"/>
              </a:defRPr>
            </a:pPr>
            <a:r>
              <a:t>3. Match</a:t>
            </a:r>
          </a:p>
          <a:p>
            <a:pPr>
              <a:spcBef>
                <a:spcPts val="15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Solver selects रोहित कुमार (First aid certified).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6600" y="3749039"/>
            <a:ext cx="182880" cy="365760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69479" y="2377440"/>
            <a:ext cx="2011680" cy="320040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  <a:latin typeface="Arial"/>
              </a:defRPr>
            </a:pPr>
            <a:r>
              <a:t>4. Dispatch</a:t>
            </a:r>
          </a:p>
          <a:p>
            <a:pPr>
              <a:spcBef>
                <a:spcPts val="15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One-click authorization routing command.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1159" y="3749039"/>
            <a:ext cx="182880" cy="365760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64040" y="2377440"/>
            <a:ext cx="2011680" cy="320040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  <a:latin typeface="Arial"/>
              </a:defRPr>
            </a:pPr>
            <a:r>
              <a:t>5. Done</a:t>
            </a:r>
          </a:p>
          <a:p>
            <a:pPr>
              <a:spcBef>
                <a:spcPts val="15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Incident resolved within 3.8 minutes.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MULTI-CLOUD DEPLOYMENT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Infrastructure &amp; Live Production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2468880" cy="4114800"/>
          </a:xfrm>
          <a:prstGeom prst="rect">
            <a:avLst/>
          </a:prstGeom>
          <a:solidFill>
            <a:srgbClr val="111827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6B6D4"/>
                </a:solidFill>
                <a:latin typeface="Arial"/>
              </a:defRPr>
            </a:pPr>
            <a:r>
              <a:t>FRONTEND</a:t>
            </a:r>
          </a:p>
          <a:p>
            <a:pPr>
              <a:spcBef>
                <a:spcPts val="1000"/>
              </a:spcBef>
              <a:defRPr sz="2000" b="1">
                <a:solidFill>
                  <a:srgbClr val="F3F4F6"/>
                </a:solidFill>
                <a:latin typeface="Arial"/>
              </a:defRPr>
            </a:pPr>
            <a:r>
              <a:t>Vercel Cloud</a:t>
            </a:r>
          </a:p>
          <a:p>
            <a:pPr>
              <a:spcBef>
                <a:spcPts val="15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Next.js 15 app router</a:t>
            </a:r>
            <a:br/>
            <a:r>
              <a:t>Tailwind CSS styling</a:t>
            </a:r>
            <a:br/>
            <a:r>
              <a:t>Header status badges</a:t>
            </a:r>
            <a:br/>
            <a:r>
              <a:t>Offline fallbacks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2011680"/>
            <a:ext cx="2468880" cy="4114800"/>
          </a:xfrm>
          <a:prstGeom prst="rect">
            <a:avLst/>
          </a:prstGeom>
          <a:solidFill>
            <a:srgbClr val="111827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6B6D4"/>
                </a:solidFill>
                <a:latin typeface="Arial"/>
              </a:defRPr>
            </a:pPr>
            <a:r>
              <a:t>BACKEND</a:t>
            </a:r>
          </a:p>
          <a:p>
            <a:pPr>
              <a:spcBef>
                <a:spcPts val="1000"/>
              </a:spcBef>
              <a:defRPr sz="2000" b="1">
                <a:solidFill>
                  <a:srgbClr val="F3F4F6"/>
                </a:solidFill>
                <a:latin typeface="Arial"/>
              </a:defRPr>
            </a:pPr>
            <a:r>
              <a:t>Render Cloud</a:t>
            </a:r>
          </a:p>
          <a:p>
            <a:pPr>
              <a:spcBef>
                <a:spcPts val="15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FastAPI Python ASGI</a:t>
            </a:r>
            <a:br/>
            <a:r>
              <a:t>Uvicorn startup engine</a:t>
            </a:r>
            <a:br/>
            <a:r>
              <a:t>Auto-deploy hooks</a:t>
            </a:r>
            <a:br/>
            <a:r>
              <a:t>Official /health monitor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2011680"/>
            <a:ext cx="2468880" cy="4114800"/>
          </a:xfrm>
          <a:prstGeom prst="rect">
            <a:avLst/>
          </a:prstGeom>
          <a:solidFill>
            <a:srgbClr val="111827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6B6D4"/>
                </a:solidFill>
                <a:latin typeface="Arial"/>
              </a:defRPr>
            </a:pPr>
            <a:r>
              <a:t>DATABASE</a:t>
            </a:r>
          </a:p>
          <a:p>
            <a:pPr>
              <a:spcBef>
                <a:spcPts val="1000"/>
              </a:spcBef>
              <a:defRPr sz="2000" b="1">
                <a:solidFill>
                  <a:srgbClr val="F3F4F6"/>
                </a:solidFill>
                <a:latin typeface="Arial"/>
              </a:defRPr>
            </a:pPr>
            <a:r>
              <a:t>SQLite Layer</a:t>
            </a:r>
          </a:p>
          <a:p>
            <a:pPr>
              <a:spcBef>
                <a:spcPts val="15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Auto schema generator</a:t>
            </a:r>
            <a:br/>
            <a:r>
              <a:t>SQLAlchemy ORM</a:t>
            </a:r>
            <a:br/>
            <a:r>
              <a:t>Incident metrics tables</a:t>
            </a:r>
            <a:br/>
            <a:r>
              <a:t>User registry store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15400" y="2011680"/>
            <a:ext cx="2468880" cy="4114800"/>
          </a:xfrm>
          <a:prstGeom prst="rect">
            <a:avLst/>
          </a:prstGeom>
          <a:solidFill>
            <a:srgbClr val="11182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Arial"/>
              </a:defRPr>
            </a:pPr>
            <a:r>
              <a:t>INTEGRATIONS</a:t>
            </a:r>
          </a:p>
          <a:p>
            <a:pPr>
              <a:spcBef>
                <a:spcPts val="1000"/>
              </a:spcBef>
              <a:defRPr sz="2000" b="1">
                <a:solidFill>
                  <a:srgbClr val="F3F4F6"/>
                </a:solidFill>
                <a:latin typeface="Arial"/>
              </a:defRPr>
            </a:pPr>
            <a:r>
              <a:t>Operations Platform</a:t>
            </a:r>
          </a:p>
          <a:p>
            <a:pPr>
              <a:spcBef>
                <a:spcPts val="15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Swagger API docs</a:t>
            </a:r>
            <a:br/>
            <a:r>
              <a:t>GitHub VCS repository</a:t>
            </a:r>
            <a:br/>
            <a:r>
              <a:t>Full stack connected</a:t>
            </a:r>
            <a:br/>
            <a:r>
              <a:t>Demonstrable live HUD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CORE FUNCTIONAL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Platform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383280" cy="182880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✓ PREDICTIVE STAFFING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Capability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Anticipate crowd volume anomalies &amp; volunteer shortages.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2011680"/>
            <a:ext cx="3383280" cy="182880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214884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✓ DIGITAL COMMAND TWIN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Capability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12-sector matrix visual telemetry HUD.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2011680"/>
            <a:ext cx="3383280" cy="182880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214884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✓ AI COPILOT ASSISTANT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Capability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Conversational CLI decision triggers &amp; citations.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114800"/>
            <a:ext cx="3383280" cy="182880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✓ WORKFORCE OPTIMIZATION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Capability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Constraint solver routing proximity &amp; fatigue.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4114800"/>
            <a:ext cx="3383280" cy="182880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425196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✓ SCENARIO SIMULATOR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Capability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Stress-test sandbox with presets &amp; SVG trend charts.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4114800"/>
            <a:ext cx="3383280" cy="182880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425196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✓ FULL STACK INTEGRATION</a:t>
            </a:r>
          </a:p>
          <a:p>
            <a:pPr>
              <a:spcBef>
                <a:spcPts val="800"/>
              </a:spcBef>
              <a:defRPr sz="2400" b="1">
                <a:solidFill>
                  <a:srgbClr val="F3F4F6"/>
                </a:solidFill>
                <a:latin typeface="Arial"/>
              </a:defRPr>
            </a:pPr>
            <a:r>
              <a:t>Capability</a:t>
            </a:r>
          </a:p>
          <a:p>
            <a:pPr>
              <a:spcBef>
                <a:spcPts val="800"/>
              </a:spcBef>
              <a:defRPr sz="1100">
                <a:solidFill>
                  <a:srgbClr val="9CA3AF"/>
                </a:solidFill>
                <a:latin typeface="Arial"/>
              </a:defRPr>
            </a:pPr>
            <a:r>
              <a:t>Live REST API server with client offline fallbacks.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CONTACT &amp; REPOSITORY CREDENTIALS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Arial"/>
              </a:defRPr>
            </a:pPr>
            <a:r>
              <a:t>Synchronizing Humanity at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011680"/>
            <a:ext cx="4114800" cy="3840480"/>
          </a:xfrm>
          <a:prstGeom prst="rect">
            <a:avLst/>
          </a:prstGeom>
          <a:solidFill>
            <a:srgbClr val="0C1423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9CA3AF"/>
                </a:solidFill>
              </a:defRPr>
            </a:pPr>
            <a:r>
              <a:t>[ QR CODE MOCKUP ]</a:t>
            </a:r>
            <a:br/>
            <a:br/>
            <a:r>
              <a:t>Scan to access live platform deployment and GitHub code files.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2011680"/>
            <a:ext cx="5788152" cy="3840480"/>
          </a:xfrm>
          <a:prstGeom prst="rect">
            <a:avLst/>
          </a:prstGeom>
          <a:solidFill>
            <a:srgbClr val="11182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DEMO PLATFORM URL:</a:t>
            </a:r>
          </a:p>
          <a:p>
            <a:pPr>
              <a:spcBef>
                <a:spcPts val="400"/>
              </a:spcBef>
              <a:defRPr sz="1800" b="1">
                <a:solidFill>
                  <a:srgbClr val="F3F4F6"/>
                </a:solidFill>
              </a:defRPr>
            </a:pPr>
            <a:r>
              <a:t>kumbhforce-ai.vercel.app</a:t>
            </a:r>
          </a:p>
          <a:p>
            <a:pPr>
              <a:spcBef>
                <a:spcPts val="1500"/>
              </a:spcBef>
              <a:defRPr sz="1100" b="1">
                <a:solidFill>
                  <a:srgbClr val="06B6D4"/>
                </a:solidFill>
              </a:defRPr>
            </a:pPr>
            <a:r>
              <a:t>GITHUB REPOSITORY:</a:t>
            </a:r>
          </a:p>
          <a:p>
            <a:pPr>
              <a:spcBef>
                <a:spcPts val="400"/>
              </a:spcBef>
              <a:defRPr sz="1800" b="1">
                <a:solidFill>
                  <a:srgbClr val="F3F4F6"/>
                </a:solidFill>
              </a:defRPr>
            </a:pPr>
            <a:r>
              <a:t>github.com/ADITYA-PANDEY99/KumbhForce-AI</a:t>
            </a:r>
          </a:p>
          <a:p>
            <a:pPr>
              <a:spcBef>
                <a:spcPts val="1500"/>
              </a:spcBef>
              <a:defRPr sz="1100" b="1">
                <a:solidFill>
                  <a:srgbClr val="06B6D4"/>
                </a:solidFill>
              </a:defRPr>
            </a:pPr>
            <a:r>
              <a:t>CREATOR DETAILS:</a:t>
            </a:r>
          </a:p>
          <a:p>
            <a:pPr>
              <a:spcBef>
                <a:spcPts val="400"/>
              </a:spcBef>
              <a:defRPr sz="1400" b="1">
                <a:solidFill>
                  <a:srgbClr val="10B981"/>
                </a:solidFill>
              </a:defRPr>
            </a:pPr>
            <a:r>
              <a:t>Aditya Pandey  ·  aditya@kumbhforce.ai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